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68" r:id="rId6"/>
    <p:sldId id="272" r:id="rId7"/>
    <p:sldId id="273" r:id="rId8"/>
    <p:sldId id="258" r:id="rId9"/>
    <p:sldId id="265" r:id="rId10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6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50C1A-F412-46C3-B899-C3B00D9BCCA4}" v="7" dt="2025-05-23T20:29:23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987" autoAdjust="0"/>
  </p:normalViewPr>
  <p:slideViewPr>
    <p:cSldViewPr>
      <p:cViewPr varScale="1">
        <p:scale>
          <a:sx n="48" d="100"/>
          <a:sy n="48" d="100"/>
        </p:scale>
        <p:origin x="42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FEDAEE-93D0-4D85-AC9A-B8F59E3C4FF6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F3ACC-5209-4632-9742-AFC482219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5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A85C6-862B-4EF3-A566-E0DDB0E72F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6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oup of people using laptops&#10;&#10;AI-generated content may be incorrect.">
            <a:extLst>
              <a:ext uri="{FF2B5EF4-FFF2-40B4-BE49-F238E27FC236}">
                <a16:creationId xmlns:a16="http://schemas.microsoft.com/office/drawing/2014/main" id="{FC472E06-20D1-131C-A547-427EB6354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1" t="3666" r="10457" b="8834"/>
          <a:stretch/>
        </p:blipFill>
        <p:spPr>
          <a:xfrm>
            <a:off x="2446298" y="955155"/>
            <a:ext cx="13395403" cy="837212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-487725">
            <a:off x="-727565" y="8204256"/>
            <a:ext cx="23408034" cy="8130006"/>
            <a:chOff x="0" y="0"/>
            <a:chExt cx="6165079" cy="2141236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A5F568F-BFA7-5E0B-731D-5720358F35F7}"/>
              </a:ext>
            </a:extLst>
          </p:cNvPr>
          <p:cNvSpPr txBox="1"/>
          <p:nvPr/>
        </p:nvSpPr>
        <p:spPr>
          <a:xfrm>
            <a:off x="2408823" y="940243"/>
            <a:ext cx="13432878" cy="7784657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5" name="Group 5"/>
          <p:cNvGrpSpPr/>
          <p:nvPr/>
        </p:nvGrpSpPr>
        <p:grpSpPr>
          <a:xfrm rot="912784">
            <a:off x="-3388920" y="9309055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638745">
            <a:off x="-3388920" y="9596173"/>
            <a:ext cx="23408034" cy="8130006"/>
          </a:xfrm>
          <a:custGeom>
            <a:avLst/>
            <a:gdLst/>
            <a:ahLst/>
            <a:cxnLst/>
            <a:rect l="l" t="t" r="r" b="b"/>
            <a:pathLst>
              <a:path w="6165079" h="2141236">
                <a:moveTo>
                  <a:pt x="0" y="0"/>
                </a:moveTo>
                <a:lnTo>
                  <a:pt x="6165079" y="0"/>
                </a:lnTo>
                <a:lnTo>
                  <a:pt x="6165079" y="2141236"/>
                </a:lnTo>
                <a:lnTo>
                  <a:pt x="0" y="2141236"/>
                </a:ln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2810840" y="2901563"/>
            <a:ext cx="12666320" cy="350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204"/>
              </a:lnSpc>
            </a:pPr>
            <a:r>
              <a:rPr lang="en-US" sz="96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1OALYTICS KNOWLEGDE QUEST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34186" y="6421863"/>
            <a:ext cx="7219628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399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------------------</a:t>
            </a:r>
          </a:p>
        </p:txBody>
      </p:sp>
      <p:pic>
        <p:nvPicPr>
          <p:cNvPr id="14" name="Picture 13" descr="A black and orange text&#10;&#10;AI-generated content may be incorrect.">
            <a:extLst>
              <a:ext uri="{FF2B5EF4-FFF2-40B4-BE49-F238E27FC236}">
                <a16:creationId xmlns:a16="http://schemas.microsoft.com/office/drawing/2014/main" id="{DC44C53B-78A0-05AD-3692-311FBCB311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173"/>
            <a:ext cx="2438400" cy="7182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524000" y="840338"/>
            <a:ext cx="15689986" cy="93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4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GOAL</a:t>
            </a:r>
          </a:p>
        </p:txBody>
      </p:sp>
      <p:grpSp>
        <p:nvGrpSpPr>
          <p:cNvPr id="15" name="Group 15"/>
          <p:cNvGrpSpPr/>
          <p:nvPr/>
        </p:nvGrpSpPr>
        <p:grpSpPr>
          <a:xfrm rot="912784">
            <a:off x="11263541" y="-7254613"/>
            <a:ext cx="14048919" cy="8130006"/>
            <a:chOff x="0" y="0"/>
            <a:chExt cx="3700127" cy="2141236"/>
          </a:xfrm>
          <a:solidFill>
            <a:schemeClr val="bg1"/>
          </a:solidFill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00127" cy="2141236"/>
            </a:xfrm>
            <a:custGeom>
              <a:avLst/>
              <a:gdLst/>
              <a:ahLst/>
              <a:cxnLst/>
              <a:rect l="l" t="t" r="r" b="b"/>
              <a:pathLst>
                <a:path w="3700127" h="2141236">
                  <a:moveTo>
                    <a:pt x="0" y="0"/>
                  </a:moveTo>
                  <a:lnTo>
                    <a:pt x="3700127" y="0"/>
                  </a:lnTo>
                  <a:lnTo>
                    <a:pt x="3700127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700127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7" descr="A black and orange text&#10;&#10;AI-generated content may be incorrect.">
            <a:extLst>
              <a:ext uri="{FF2B5EF4-FFF2-40B4-BE49-F238E27FC236}">
                <a16:creationId xmlns:a16="http://schemas.microsoft.com/office/drawing/2014/main" id="{78FDE958-AD5C-15A3-2C88-6DA8A27758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173"/>
            <a:ext cx="2438400" cy="7182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BEB72E-7E0E-7750-8CC0-1A9B72F467C3}"/>
              </a:ext>
            </a:extLst>
          </p:cNvPr>
          <p:cNvSpPr txBox="1"/>
          <p:nvPr/>
        </p:nvSpPr>
        <p:spPr>
          <a:xfrm>
            <a:off x="2207996" y="1913213"/>
            <a:ext cx="13872008" cy="7454156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4400" b="1" dirty="0">
                <a:solidFill>
                  <a:srgbClr val="DA672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Unlocking Insights to Improve eCommerce Efficiency and Customer Satisfaction</a:t>
            </a:r>
            <a:r>
              <a:rPr lang="en-US" sz="4800" dirty="0">
                <a:solidFill>
                  <a:srgbClr val="DA6727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40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This project simulates a real-world business scenario where participants will analyze transactional, behavioral, and geolocation data to generate actionable insights that support strategic decision-making in areas like customer experience, sales optimization, delivery logistics, and product performance.</a:t>
            </a:r>
            <a:endParaRPr lang="en-US" sz="4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" name="Group 2"/>
          <p:cNvGrpSpPr/>
          <p:nvPr/>
        </p:nvGrpSpPr>
        <p:grpSpPr>
          <a:xfrm rot="638745">
            <a:off x="-3685519" y="10893289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4ABB1-52F2-8932-122D-43BD05FC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035D4D48-ABF1-9635-F042-118315412031}"/>
              </a:ext>
            </a:extLst>
          </p:cNvPr>
          <p:cNvSpPr txBox="1"/>
          <p:nvPr/>
        </p:nvSpPr>
        <p:spPr>
          <a:xfrm>
            <a:off x="1524000" y="840338"/>
            <a:ext cx="15689986" cy="93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4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4AEF332-63E4-F3DF-A654-A33140B14263}"/>
              </a:ext>
            </a:extLst>
          </p:cNvPr>
          <p:cNvGrpSpPr/>
          <p:nvPr/>
        </p:nvGrpSpPr>
        <p:grpSpPr>
          <a:xfrm rot="912784">
            <a:off x="11263541" y="-7254613"/>
            <a:ext cx="14048919" cy="8130006"/>
            <a:chOff x="0" y="0"/>
            <a:chExt cx="3700127" cy="2141236"/>
          </a:xfrm>
          <a:solidFill>
            <a:schemeClr val="bg1"/>
          </a:solid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2115DAC-8AC5-3858-3FAF-D047C2751FCC}"/>
                </a:ext>
              </a:extLst>
            </p:cNvPr>
            <p:cNvSpPr/>
            <p:nvPr/>
          </p:nvSpPr>
          <p:spPr>
            <a:xfrm>
              <a:off x="0" y="0"/>
              <a:ext cx="3700127" cy="2141236"/>
            </a:xfrm>
            <a:custGeom>
              <a:avLst/>
              <a:gdLst/>
              <a:ahLst/>
              <a:cxnLst/>
              <a:rect l="l" t="t" r="r" b="b"/>
              <a:pathLst>
                <a:path w="3700127" h="2141236">
                  <a:moveTo>
                    <a:pt x="0" y="0"/>
                  </a:moveTo>
                  <a:lnTo>
                    <a:pt x="3700127" y="0"/>
                  </a:lnTo>
                  <a:lnTo>
                    <a:pt x="3700127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74E7499-D44F-F204-485D-7B06750CD26E}"/>
                </a:ext>
              </a:extLst>
            </p:cNvPr>
            <p:cNvSpPr txBox="1"/>
            <p:nvPr/>
          </p:nvSpPr>
          <p:spPr>
            <a:xfrm>
              <a:off x="0" y="-38100"/>
              <a:ext cx="3700127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7" descr="A black and orange text&#10;&#10;AI-generated content may be incorrect.">
            <a:extLst>
              <a:ext uri="{FF2B5EF4-FFF2-40B4-BE49-F238E27FC236}">
                <a16:creationId xmlns:a16="http://schemas.microsoft.com/office/drawing/2014/main" id="{A3929730-722A-CD90-98A9-24B2BE59C4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173"/>
            <a:ext cx="2438400" cy="7182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B2632E-1BF8-5D98-2944-11B46CF21633}"/>
              </a:ext>
            </a:extLst>
          </p:cNvPr>
          <p:cNvSpPr txBox="1"/>
          <p:nvPr/>
        </p:nvSpPr>
        <p:spPr>
          <a:xfrm>
            <a:off x="2207996" y="1913213"/>
            <a:ext cx="13872008" cy="7219028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Customer Insights:</a:t>
            </a:r>
            <a:b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Analyze purchasing behavior by city/state.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Identify customer retention or churn patterns.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Segment customers by purchase frequency and order value.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Sales Performance Analysis:</a:t>
            </a:r>
            <a:b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Determine top-performing product categories, sellers, and regions.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Identify trends in payment methods and revenue streams.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Correlate lead qualification to closed deals and revenue outcomes.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658B340-CFF2-818B-BA35-6890FBE035DE}"/>
              </a:ext>
            </a:extLst>
          </p:cNvPr>
          <p:cNvGrpSpPr/>
          <p:nvPr/>
        </p:nvGrpSpPr>
        <p:grpSpPr>
          <a:xfrm rot="638745">
            <a:off x="-3685519" y="10893289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D3C2FE-19A4-0DD1-C4BC-205166BE4A58}"/>
                </a:ext>
              </a:extLst>
            </p:cNvPr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1D8259A-E614-7C21-4007-ECB015580B69}"/>
                </a:ext>
              </a:extLst>
            </p:cNvPr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86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21EED-7E30-0A13-991F-6CD9BA4A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9FC8FA31-17FD-488A-AA37-AEF613553AB7}"/>
              </a:ext>
            </a:extLst>
          </p:cNvPr>
          <p:cNvSpPr txBox="1"/>
          <p:nvPr/>
        </p:nvSpPr>
        <p:spPr>
          <a:xfrm>
            <a:off x="1524000" y="840338"/>
            <a:ext cx="15689986" cy="93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4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EC5132E-2363-B915-C29D-AB799EF78050}"/>
              </a:ext>
            </a:extLst>
          </p:cNvPr>
          <p:cNvGrpSpPr/>
          <p:nvPr/>
        </p:nvGrpSpPr>
        <p:grpSpPr>
          <a:xfrm rot="912784">
            <a:off x="11263541" y="-7254613"/>
            <a:ext cx="14048919" cy="8130006"/>
            <a:chOff x="0" y="0"/>
            <a:chExt cx="3700127" cy="2141236"/>
          </a:xfrm>
          <a:solidFill>
            <a:schemeClr val="bg1"/>
          </a:solid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949C381-0C17-63CA-BA0D-EDA9BE1E95D4}"/>
                </a:ext>
              </a:extLst>
            </p:cNvPr>
            <p:cNvSpPr/>
            <p:nvPr/>
          </p:nvSpPr>
          <p:spPr>
            <a:xfrm>
              <a:off x="0" y="0"/>
              <a:ext cx="3700127" cy="2141236"/>
            </a:xfrm>
            <a:custGeom>
              <a:avLst/>
              <a:gdLst/>
              <a:ahLst/>
              <a:cxnLst/>
              <a:rect l="l" t="t" r="r" b="b"/>
              <a:pathLst>
                <a:path w="3700127" h="2141236">
                  <a:moveTo>
                    <a:pt x="0" y="0"/>
                  </a:moveTo>
                  <a:lnTo>
                    <a:pt x="3700127" y="0"/>
                  </a:lnTo>
                  <a:lnTo>
                    <a:pt x="3700127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99E8C8DF-FA6C-5A6D-DEAA-FFAD9E2A20B8}"/>
                </a:ext>
              </a:extLst>
            </p:cNvPr>
            <p:cNvSpPr txBox="1"/>
            <p:nvPr/>
          </p:nvSpPr>
          <p:spPr>
            <a:xfrm>
              <a:off x="0" y="-38100"/>
              <a:ext cx="3700127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7" descr="A black and orange text&#10;&#10;AI-generated content may be incorrect.">
            <a:extLst>
              <a:ext uri="{FF2B5EF4-FFF2-40B4-BE49-F238E27FC236}">
                <a16:creationId xmlns:a16="http://schemas.microsoft.com/office/drawing/2014/main" id="{82444990-5318-9147-8C84-CFC2FFBD38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173"/>
            <a:ext cx="2438400" cy="7182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EC76151-9EEC-0E63-282A-58073B3DAE20}"/>
              </a:ext>
            </a:extLst>
          </p:cNvPr>
          <p:cNvSpPr txBox="1"/>
          <p:nvPr/>
        </p:nvSpPr>
        <p:spPr>
          <a:xfrm>
            <a:off x="2207996" y="1913213"/>
            <a:ext cx="13872008" cy="626338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514350" lvl="0" indent="-514350">
              <a:lnSpc>
                <a:spcPct val="115000"/>
              </a:lnSpc>
              <a:buFont typeface="+mj-lt"/>
              <a:buAutoNum type="arabicPeriod" startAt="3"/>
            </a:pPr>
            <a: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Delivery &amp; Logistics:</a:t>
            </a:r>
            <a:b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Compare estimated vs. actual delivery dates to measure delivery efficiency.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Highlight cities or states with frequent delays.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 startAt="3"/>
            </a:pPr>
            <a: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Review &amp; Satisfaction Insights:</a:t>
            </a:r>
            <a:br>
              <a:rPr lang="en-US" sz="2700" b="1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Analyze the distribution of review scores by product category or seller.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1200"/>
              </a:spcAft>
              <a:buFont typeface="Arial" panose="020B0604020202020204" pitchFamily="34" charset="0"/>
              <a:buChar char="○"/>
            </a:pPr>
            <a: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Determine if longer delivery times impact review sentiment.</a:t>
            </a:r>
            <a:br>
              <a:rPr lang="en-US" sz="27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70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A30A3C98-5364-99D7-7FA9-886DE00F55D5}"/>
              </a:ext>
            </a:extLst>
          </p:cNvPr>
          <p:cNvGrpSpPr/>
          <p:nvPr/>
        </p:nvGrpSpPr>
        <p:grpSpPr>
          <a:xfrm rot="638745">
            <a:off x="-3685519" y="10893289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7CC8539-22F5-CA29-8E6A-1E423DF5EA5D}"/>
                </a:ext>
              </a:extLst>
            </p:cNvPr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0FB21A5-A190-ADCC-9E57-E2A3F1B26121}"/>
                </a:ext>
              </a:extLst>
            </p:cNvPr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78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1FA5E-7B7C-55AC-9A22-DF0847BC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BB31B373-8B92-7061-D3C6-C5B998A3C4A7}"/>
              </a:ext>
            </a:extLst>
          </p:cNvPr>
          <p:cNvSpPr txBox="1"/>
          <p:nvPr/>
        </p:nvSpPr>
        <p:spPr>
          <a:xfrm>
            <a:off x="1524000" y="840338"/>
            <a:ext cx="15689986" cy="93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4000" b="1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  <a:endParaRPr lang="en-US" sz="4000" b="1" dirty="0">
              <a:solidFill>
                <a:schemeClr val="bg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661E5A6-C87F-F619-9F81-27D59F6967F2}"/>
              </a:ext>
            </a:extLst>
          </p:cNvPr>
          <p:cNvGrpSpPr/>
          <p:nvPr/>
        </p:nvGrpSpPr>
        <p:grpSpPr>
          <a:xfrm rot="912784">
            <a:off x="11263541" y="-7254613"/>
            <a:ext cx="14048919" cy="8130006"/>
            <a:chOff x="0" y="0"/>
            <a:chExt cx="3700127" cy="2141236"/>
          </a:xfrm>
          <a:solidFill>
            <a:schemeClr val="bg1"/>
          </a:solid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F2EAF06-23A8-3329-A180-FD13FA70CDFA}"/>
                </a:ext>
              </a:extLst>
            </p:cNvPr>
            <p:cNvSpPr/>
            <p:nvPr/>
          </p:nvSpPr>
          <p:spPr>
            <a:xfrm>
              <a:off x="0" y="0"/>
              <a:ext cx="3700127" cy="2141236"/>
            </a:xfrm>
            <a:custGeom>
              <a:avLst/>
              <a:gdLst/>
              <a:ahLst/>
              <a:cxnLst/>
              <a:rect l="l" t="t" r="r" b="b"/>
              <a:pathLst>
                <a:path w="3700127" h="2141236">
                  <a:moveTo>
                    <a:pt x="0" y="0"/>
                  </a:moveTo>
                  <a:lnTo>
                    <a:pt x="3700127" y="0"/>
                  </a:lnTo>
                  <a:lnTo>
                    <a:pt x="3700127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5FA694C-CF24-3311-CEC6-F5F583216AB1}"/>
                </a:ext>
              </a:extLst>
            </p:cNvPr>
            <p:cNvSpPr txBox="1"/>
            <p:nvPr/>
          </p:nvSpPr>
          <p:spPr>
            <a:xfrm>
              <a:off x="0" y="-38100"/>
              <a:ext cx="3700127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7" descr="A black and orange text&#10;&#10;AI-generated content may be incorrect.">
            <a:extLst>
              <a:ext uri="{FF2B5EF4-FFF2-40B4-BE49-F238E27FC236}">
                <a16:creationId xmlns:a16="http://schemas.microsoft.com/office/drawing/2014/main" id="{AEAB9AFA-53FF-1F92-D1CF-3D23132A85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173"/>
            <a:ext cx="2438400" cy="7182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CF60E5-5167-7C30-2335-0E2165770D1C}"/>
              </a:ext>
            </a:extLst>
          </p:cNvPr>
          <p:cNvSpPr txBox="1"/>
          <p:nvPr/>
        </p:nvSpPr>
        <p:spPr>
          <a:xfrm>
            <a:off x="2207996" y="1913213"/>
            <a:ext cx="13872008" cy="4505977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115000"/>
              </a:lnSpc>
              <a:spcBef>
                <a:spcPts val="1200"/>
              </a:spcBef>
              <a:defRPr sz="270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defRPr>
            </a:lvl1pPr>
            <a:lvl2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  <a:defRPr sz="270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defRPr>
            </a:lvl2pPr>
          </a:lstStyle>
          <a:p>
            <a:r>
              <a:rPr lang="en-US" dirty="0"/>
              <a:t>5. 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Geospatial visualization of seller vs. customer locations to suggest delivery optimization.</a:t>
            </a:r>
            <a:br>
              <a:rPr lang="en-US" dirty="0"/>
            </a:br>
            <a:endParaRPr lang="en-US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Create a dashboard to track business KPIs using Power BI, Tableau, or Python Dash.</a:t>
            </a:r>
            <a:br>
              <a:rPr lang="en-US" dirty="0"/>
            </a:br>
            <a:endParaRPr lang="en-US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en-US" dirty="0"/>
              <a:t>Suggest A/B test opportunities from the funnel or product level.</a:t>
            </a:r>
            <a:br>
              <a:rPr lang="en-US" dirty="0"/>
            </a:br>
            <a:endParaRPr lang="en-US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27E433B-5239-4D2C-62CC-7C903495D80D}"/>
              </a:ext>
            </a:extLst>
          </p:cNvPr>
          <p:cNvGrpSpPr/>
          <p:nvPr/>
        </p:nvGrpSpPr>
        <p:grpSpPr>
          <a:xfrm rot="638745">
            <a:off x="-3685519" y="10893289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DF18C3-E992-2D42-9E66-4ECF15CEA7C2}"/>
                </a:ext>
              </a:extLst>
            </p:cNvPr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652AF63-3807-F51F-7BE7-9ED094640AFA}"/>
                </a:ext>
              </a:extLst>
            </p:cNvPr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7241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4ABB1-52F2-8932-122D-43BD05FCD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035D4D48-ABF1-9635-F042-118315412031}"/>
              </a:ext>
            </a:extLst>
          </p:cNvPr>
          <p:cNvSpPr txBox="1"/>
          <p:nvPr/>
        </p:nvSpPr>
        <p:spPr>
          <a:xfrm>
            <a:off x="1524000" y="840338"/>
            <a:ext cx="15689986" cy="93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4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4AEF332-63E4-F3DF-A654-A33140B14263}"/>
              </a:ext>
            </a:extLst>
          </p:cNvPr>
          <p:cNvGrpSpPr/>
          <p:nvPr/>
        </p:nvGrpSpPr>
        <p:grpSpPr>
          <a:xfrm rot="912784">
            <a:off x="11263541" y="-7254613"/>
            <a:ext cx="14048919" cy="8130006"/>
            <a:chOff x="0" y="0"/>
            <a:chExt cx="3700127" cy="2141236"/>
          </a:xfrm>
          <a:solidFill>
            <a:schemeClr val="bg1"/>
          </a:solid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2115DAC-8AC5-3858-3FAF-D047C2751FCC}"/>
                </a:ext>
              </a:extLst>
            </p:cNvPr>
            <p:cNvSpPr/>
            <p:nvPr/>
          </p:nvSpPr>
          <p:spPr>
            <a:xfrm>
              <a:off x="0" y="0"/>
              <a:ext cx="3700127" cy="2141236"/>
            </a:xfrm>
            <a:custGeom>
              <a:avLst/>
              <a:gdLst/>
              <a:ahLst/>
              <a:cxnLst/>
              <a:rect l="l" t="t" r="r" b="b"/>
              <a:pathLst>
                <a:path w="3700127" h="2141236">
                  <a:moveTo>
                    <a:pt x="0" y="0"/>
                  </a:moveTo>
                  <a:lnTo>
                    <a:pt x="3700127" y="0"/>
                  </a:lnTo>
                  <a:lnTo>
                    <a:pt x="3700127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74E7499-D44F-F204-485D-7B06750CD26E}"/>
                </a:ext>
              </a:extLst>
            </p:cNvPr>
            <p:cNvSpPr txBox="1"/>
            <p:nvPr/>
          </p:nvSpPr>
          <p:spPr>
            <a:xfrm>
              <a:off x="0" y="-38100"/>
              <a:ext cx="3700127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7" descr="A black and orange text&#10;&#10;AI-generated content may be incorrect.">
            <a:extLst>
              <a:ext uri="{FF2B5EF4-FFF2-40B4-BE49-F238E27FC236}">
                <a16:creationId xmlns:a16="http://schemas.microsoft.com/office/drawing/2014/main" id="{A3929730-722A-CD90-98A9-24B2BE59C4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173"/>
            <a:ext cx="2438400" cy="7182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EB2632E-1BF8-5D98-2944-11B46CF21633}"/>
              </a:ext>
            </a:extLst>
          </p:cNvPr>
          <p:cNvSpPr txBox="1"/>
          <p:nvPr/>
        </p:nvSpPr>
        <p:spPr>
          <a:xfrm>
            <a:off x="2207996" y="1913213"/>
            <a:ext cx="13872008" cy="783721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115000"/>
              </a:lnSpc>
              <a:spcBef>
                <a:spcPts val="1200"/>
              </a:spcBef>
              <a:defRPr sz="270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defRPr>
            </a:lvl1pPr>
            <a:lvl2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  <a:defRPr sz="270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defRPr>
            </a:lvl2pPr>
          </a:lstStyle>
          <a:p>
            <a:r>
              <a:rPr lang="en-US" sz="3600" dirty="0"/>
              <a:t>6. Predictive Modeling:</a:t>
            </a:r>
            <a:br>
              <a:rPr lang="en-US" sz="3600" dirty="0"/>
            </a:br>
            <a:endParaRPr lang="en-US" sz="3600" dirty="0"/>
          </a:p>
          <a:p>
            <a:pPr lvl="1"/>
            <a:r>
              <a:rPr lang="en-US" sz="3600" dirty="0"/>
              <a:t>Predict order delivery delays using order, customer, and logistics data.</a:t>
            </a:r>
            <a:br>
              <a:rPr lang="en-US" sz="3600" dirty="0"/>
            </a:br>
            <a:endParaRPr lang="en-US" sz="3600" dirty="0"/>
          </a:p>
          <a:p>
            <a:pPr lvl="1"/>
            <a:r>
              <a:rPr lang="en-US" sz="3600" dirty="0"/>
              <a:t>Predict review scores based on order characteristics and delays.</a:t>
            </a:r>
            <a:br>
              <a:rPr lang="en-US" sz="3600" dirty="0"/>
            </a:br>
            <a:endParaRPr lang="en-US" sz="3600" dirty="0"/>
          </a:p>
          <a:p>
            <a:r>
              <a:rPr lang="en-US" sz="3600" dirty="0"/>
              <a:t>7. Customer Lifetime Value Prediction:</a:t>
            </a:r>
            <a:br>
              <a:rPr lang="en-US" sz="3600" dirty="0"/>
            </a:br>
            <a:endParaRPr lang="en-US" sz="3600" dirty="0"/>
          </a:p>
          <a:p>
            <a:pPr lvl="1"/>
            <a:r>
              <a:rPr lang="en-US" sz="3600" dirty="0"/>
              <a:t>Estimate CLV based on historical purchase and review data.</a:t>
            </a:r>
            <a:br>
              <a:rPr lang="en-US" sz="3600" dirty="0"/>
            </a:br>
            <a:endParaRPr lang="en-US" sz="3600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658B340-CFF2-818B-BA35-6890FBE035DE}"/>
              </a:ext>
            </a:extLst>
          </p:cNvPr>
          <p:cNvGrpSpPr/>
          <p:nvPr/>
        </p:nvGrpSpPr>
        <p:grpSpPr>
          <a:xfrm rot="638745">
            <a:off x="-3685519" y="10893289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D3C2FE-19A4-0DD1-C4BC-205166BE4A58}"/>
                </a:ext>
              </a:extLst>
            </p:cNvPr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1D8259A-E614-7C21-4007-ECB015580B69}"/>
                </a:ext>
              </a:extLst>
            </p:cNvPr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14618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F78D3-A7C1-7A39-92EC-F7127AE5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5DCB9C16-F8A6-7289-0780-EB4884FA7EFC}"/>
              </a:ext>
            </a:extLst>
          </p:cNvPr>
          <p:cNvSpPr txBox="1"/>
          <p:nvPr/>
        </p:nvSpPr>
        <p:spPr>
          <a:xfrm>
            <a:off x="1524000" y="840338"/>
            <a:ext cx="15689986" cy="93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4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OBJECTIVES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212920C-3340-4639-5C13-627AAF50105F}"/>
              </a:ext>
            </a:extLst>
          </p:cNvPr>
          <p:cNvGrpSpPr/>
          <p:nvPr/>
        </p:nvGrpSpPr>
        <p:grpSpPr>
          <a:xfrm rot="912784">
            <a:off x="11263541" y="-7254613"/>
            <a:ext cx="14048919" cy="8130006"/>
            <a:chOff x="0" y="0"/>
            <a:chExt cx="3700127" cy="2141236"/>
          </a:xfrm>
          <a:solidFill>
            <a:schemeClr val="bg1"/>
          </a:solid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27131BC-66FE-071F-491E-47D9B8EA7EE6}"/>
                </a:ext>
              </a:extLst>
            </p:cNvPr>
            <p:cNvSpPr/>
            <p:nvPr/>
          </p:nvSpPr>
          <p:spPr>
            <a:xfrm>
              <a:off x="0" y="0"/>
              <a:ext cx="3700127" cy="2141236"/>
            </a:xfrm>
            <a:custGeom>
              <a:avLst/>
              <a:gdLst/>
              <a:ahLst/>
              <a:cxnLst/>
              <a:rect l="l" t="t" r="r" b="b"/>
              <a:pathLst>
                <a:path w="3700127" h="2141236">
                  <a:moveTo>
                    <a:pt x="0" y="0"/>
                  </a:moveTo>
                  <a:lnTo>
                    <a:pt x="3700127" y="0"/>
                  </a:lnTo>
                  <a:lnTo>
                    <a:pt x="3700127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EF42AEB7-F129-AD6D-02D3-3CFCA78290CF}"/>
                </a:ext>
              </a:extLst>
            </p:cNvPr>
            <p:cNvSpPr txBox="1"/>
            <p:nvPr/>
          </p:nvSpPr>
          <p:spPr>
            <a:xfrm>
              <a:off x="0" y="-38100"/>
              <a:ext cx="3700127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7" descr="A black and orange text&#10;&#10;AI-generated content may be incorrect.">
            <a:extLst>
              <a:ext uri="{FF2B5EF4-FFF2-40B4-BE49-F238E27FC236}">
                <a16:creationId xmlns:a16="http://schemas.microsoft.com/office/drawing/2014/main" id="{FF96759E-900B-B789-CA31-A1608CE0AE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4173"/>
            <a:ext cx="2438400" cy="7182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779745-75CE-0B73-9381-3D54B380F4DE}"/>
              </a:ext>
            </a:extLst>
          </p:cNvPr>
          <p:cNvSpPr txBox="1"/>
          <p:nvPr/>
        </p:nvSpPr>
        <p:spPr>
          <a:xfrm>
            <a:off x="2207996" y="1913213"/>
            <a:ext cx="13872008" cy="726487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115000"/>
              </a:lnSpc>
              <a:spcBef>
                <a:spcPts val="1200"/>
              </a:spcBef>
              <a:defRPr sz="270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defRPr>
            </a:lvl1pPr>
            <a:lvl2pPr marL="742950" lvl="1" indent="-285750">
              <a:lnSpc>
                <a:spcPct val="115000"/>
              </a:lnSpc>
              <a:buFont typeface="Arial" panose="020B0604020202020204" pitchFamily="34" charset="0"/>
              <a:buChar char="○"/>
              <a:defRPr sz="2700" u="none" strike="noStrike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defRPr>
            </a:lvl2pPr>
          </a:lstStyle>
          <a:p>
            <a:r>
              <a:rPr lang="en-US" sz="4000" dirty="0"/>
              <a:t>8. Churn Modeling:</a:t>
            </a:r>
            <a:br>
              <a:rPr lang="en-US" sz="4000" dirty="0"/>
            </a:br>
            <a:endParaRPr lang="en-US" sz="4000" dirty="0"/>
          </a:p>
          <a:p>
            <a:pPr lvl="1"/>
            <a:r>
              <a:rPr lang="en-US" sz="4000" dirty="0"/>
              <a:t>Identify customers likely to churn based on order frequency and satisfaction.</a:t>
            </a:r>
            <a:br>
              <a:rPr lang="en-US" sz="4000" dirty="0"/>
            </a:br>
            <a:endParaRPr lang="en-US" sz="4000" dirty="0"/>
          </a:p>
          <a:p>
            <a:r>
              <a:rPr lang="en-US" sz="4000" dirty="0"/>
              <a:t>9. Lead Conversion Modeling:</a:t>
            </a:r>
            <a:br>
              <a:rPr lang="en-US" sz="4000" dirty="0"/>
            </a:br>
            <a:endParaRPr lang="en-US" sz="4000" dirty="0"/>
          </a:p>
          <a:p>
            <a:pPr lvl="1"/>
            <a:r>
              <a:rPr lang="en-US" sz="4000" dirty="0"/>
              <a:t>Predict the likelihood of an MQL converting to a closed deal using behavioral and sales funnel features.</a:t>
            </a:r>
            <a:br>
              <a:rPr lang="en-US" sz="4000" dirty="0"/>
            </a:br>
            <a:endParaRPr lang="en-US" sz="4000" dirty="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930C9494-5F21-7E65-607B-4A7E2A478200}"/>
              </a:ext>
            </a:extLst>
          </p:cNvPr>
          <p:cNvGrpSpPr/>
          <p:nvPr/>
        </p:nvGrpSpPr>
        <p:grpSpPr>
          <a:xfrm rot="638745">
            <a:off x="-3685519" y="10893289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1AB7D6-CC8E-EF11-6462-F5716E485D63}"/>
                </a:ext>
              </a:extLst>
            </p:cNvPr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1EDF0B4-FC43-06C4-E8C0-666E9CB48B65}"/>
                </a:ext>
              </a:extLst>
            </p:cNvPr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7871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List with solid fill"/>
          <p:cNvSpPr/>
          <p:nvPr/>
        </p:nvSpPr>
        <p:spPr>
          <a:xfrm>
            <a:off x="457200" y="1600200"/>
            <a:ext cx="5181600" cy="7086600"/>
          </a:xfrm>
          <a:custGeom>
            <a:avLst/>
            <a:gdLst/>
            <a:ahLst/>
            <a:cxnLst/>
            <a:rect l="l" t="t" r="r" b="b"/>
            <a:pathLst>
              <a:path w="6717395" h="12082708">
                <a:moveTo>
                  <a:pt x="0" y="0"/>
                </a:moveTo>
                <a:lnTo>
                  <a:pt x="6717395" y="0"/>
                </a:lnTo>
                <a:lnTo>
                  <a:pt x="6717395" y="12082707"/>
                </a:lnTo>
                <a:lnTo>
                  <a:pt x="0" y="12082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8001000" y="266700"/>
            <a:ext cx="9331022" cy="93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43"/>
              </a:lnSpc>
            </a:pPr>
            <a:r>
              <a:rPr lang="en-US" sz="4000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 INSTRUCTION</a:t>
            </a:r>
          </a:p>
        </p:txBody>
      </p:sp>
      <p:grpSp>
        <p:nvGrpSpPr>
          <p:cNvPr id="4" name="Group 4"/>
          <p:cNvGrpSpPr/>
          <p:nvPr/>
        </p:nvGrpSpPr>
        <p:grpSpPr>
          <a:xfrm rot="-487725">
            <a:off x="-621444" y="10234195"/>
            <a:ext cx="23408034" cy="6628979"/>
            <a:chOff x="0" y="0"/>
            <a:chExt cx="6165079" cy="21412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429978">
            <a:off x="-6797204" y="-7236363"/>
            <a:ext cx="14048919" cy="8130006"/>
            <a:chOff x="0" y="0"/>
            <a:chExt cx="3700127" cy="21412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00127" cy="2141236"/>
            </a:xfrm>
            <a:custGeom>
              <a:avLst/>
              <a:gdLst/>
              <a:ahLst/>
              <a:cxnLst/>
              <a:rect l="l" t="t" r="r" b="b"/>
              <a:pathLst>
                <a:path w="3700127" h="2141236">
                  <a:moveTo>
                    <a:pt x="0" y="0"/>
                  </a:moveTo>
                  <a:lnTo>
                    <a:pt x="3700127" y="0"/>
                  </a:lnTo>
                  <a:lnTo>
                    <a:pt x="3700127" y="2141236"/>
                  </a:lnTo>
                  <a:lnTo>
                    <a:pt x="0" y="2141236"/>
                  </a:lnTo>
                  <a:close/>
                </a:path>
              </a:pathLst>
            </a:custGeom>
            <a:solidFill>
              <a:srgbClr val="DA6727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00127" cy="2179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892E4E3-FFFA-040B-31B4-4CD8E6B9A9F0}"/>
              </a:ext>
            </a:extLst>
          </p:cNvPr>
          <p:cNvSpPr txBox="1"/>
          <p:nvPr/>
        </p:nvSpPr>
        <p:spPr>
          <a:xfrm>
            <a:off x="6781800" y="1306331"/>
            <a:ext cx="11234218" cy="7674337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8214DF-D24F-0A26-8797-9A53DE2CDBE2}"/>
              </a:ext>
            </a:extLst>
          </p:cNvPr>
          <p:cNvSpPr txBox="1"/>
          <p:nvPr/>
        </p:nvSpPr>
        <p:spPr>
          <a:xfrm>
            <a:off x="6832815" y="1314171"/>
            <a:ext cx="11250897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Step 1: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Access the dataset provided in the zip folder. It contains customers, geolocation, </a:t>
            </a:r>
            <a:r>
              <a:rPr lang="en-US" sz="2800" dirty="0" err="1">
                <a:solidFill>
                  <a:schemeClr val="bg1"/>
                </a:solidFill>
              </a:rPr>
              <a:t>leads_closed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leads_qualified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order_items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order_payments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order_reviews</a:t>
            </a:r>
            <a:r>
              <a:rPr lang="en-US" sz="2800" dirty="0">
                <a:solidFill>
                  <a:schemeClr val="bg1"/>
                </a:solidFill>
              </a:rPr>
              <a:t>, orders, </a:t>
            </a:r>
            <a:r>
              <a:rPr lang="en-US" sz="2800" dirty="0" err="1">
                <a:solidFill>
                  <a:schemeClr val="bg1"/>
                </a:solidFill>
              </a:rPr>
              <a:t>product_category</a:t>
            </a:r>
            <a:r>
              <a:rPr lang="en-US" sz="2800" dirty="0">
                <a:solidFill>
                  <a:schemeClr val="bg1"/>
                </a:solidFill>
              </a:rPr>
              <a:t>, products and sellers dataset.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Step 2: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Understand the business context and project goal.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bg1"/>
                </a:solidFill>
              </a:rPr>
              <a:t>Step 3: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Perform your analysis and ensure that it aligns with the business objectives.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A672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87725">
            <a:off x="-727565" y="8204256"/>
            <a:ext cx="23408034" cy="8130006"/>
            <a:chOff x="0" y="0"/>
            <a:chExt cx="6165079" cy="2141236"/>
          </a:xfrm>
          <a:solidFill>
            <a:schemeClr val="tx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912784">
            <a:off x="-3388920" y="9309055"/>
            <a:ext cx="23408034" cy="8130006"/>
            <a:chOff x="0" y="0"/>
            <a:chExt cx="6165079" cy="2141236"/>
          </a:xfrm>
          <a:solidFill>
            <a:srgbClr val="DA6727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638745">
            <a:off x="-3388920" y="9596173"/>
            <a:ext cx="23408034" cy="8130006"/>
            <a:chOff x="0" y="0"/>
            <a:chExt cx="6165079" cy="2141236"/>
          </a:xfrm>
          <a:solidFill>
            <a:schemeClr val="tx1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6165079" cy="2141236"/>
            </a:xfrm>
            <a:custGeom>
              <a:avLst/>
              <a:gdLst/>
              <a:ahLst/>
              <a:cxnLst/>
              <a:rect l="l" t="t" r="r" b="b"/>
              <a:pathLst>
                <a:path w="6165079" h="2141236">
                  <a:moveTo>
                    <a:pt x="0" y="0"/>
                  </a:moveTo>
                  <a:lnTo>
                    <a:pt x="6165079" y="0"/>
                  </a:lnTo>
                  <a:lnTo>
                    <a:pt x="6165079" y="2141236"/>
                  </a:lnTo>
                  <a:lnTo>
                    <a:pt x="0" y="2141236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165079" cy="21793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097680" y="2836089"/>
            <a:ext cx="10092640" cy="3754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04"/>
              </a:lnSpc>
            </a:pPr>
            <a:r>
              <a:rPr lang="en-US" sz="15782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</a:t>
            </a:r>
          </a:p>
          <a:p>
            <a:pPr algn="ctr">
              <a:lnSpc>
                <a:spcPts val="14204"/>
              </a:lnSpc>
            </a:pPr>
            <a:r>
              <a:rPr lang="en-US" sz="15782" b="1" dirty="0">
                <a:solidFill>
                  <a:schemeClr val="bg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</TotalTime>
  <Words>414</Words>
  <Application>Microsoft Office PowerPoint</Application>
  <PresentationFormat>Custom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Canva Sans Bold</vt:lpstr>
      <vt:lpstr>Calibri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Professional Group Project Presentation</dc:title>
  <dc:creator>PRISCILLA FANAMA</dc:creator>
  <cp:lastModifiedBy>Gogo Harrison</cp:lastModifiedBy>
  <cp:revision>11</cp:revision>
  <dcterms:created xsi:type="dcterms:W3CDTF">2006-08-16T00:00:00Z</dcterms:created>
  <dcterms:modified xsi:type="dcterms:W3CDTF">2026-01-06T12:08:41Z</dcterms:modified>
  <dc:identifier>DAGnInemUZM</dc:identifier>
</cp:coreProperties>
</file>